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Poppins"/>
      <p:bold r:id="rId12"/>
      <p:boldItalic r:id="rId13"/>
    </p:embeddedFont>
    <p:embeddedFont>
      <p:font typeface="Varela Round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oppins-boldItalic.fntdata"/><Relationship Id="rId12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VarelaRoun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10.jpg"/><Relationship Id="rId8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10" Type="http://schemas.openxmlformats.org/officeDocument/2006/relationships/hyperlink" Target="https://huggingface.co/spaces/ashikathakur/Dog_and_Cat_Classification" TargetMode="External"/><Relationship Id="rId9" Type="http://schemas.openxmlformats.org/officeDocument/2006/relationships/image" Target="../media/image11.jp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9.png"/><Relationship Id="rId8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7F9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 flipH="1" rot="10800000">
            <a:off x="17259300" y="3611365"/>
            <a:ext cx="2813200" cy="5646935"/>
          </a:xfrm>
          <a:custGeom>
            <a:rect b="b" l="l" r="r" t="t"/>
            <a:pathLst>
              <a:path extrusionOk="0"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 rot="-5400000">
            <a:off x="14257262" y="-3201368"/>
            <a:ext cx="2813200" cy="5646935"/>
          </a:xfrm>
          <a:custGeom>
            <a:rect b="b" l="l" r="r" t="t"/>
            <a:pathLst>
              <a:path extrusionOk="0"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3"/>
          <p:cNvSpPr/>
          <p:nvPr/>
        </p:nvSpPr>
        <p:spPr>
          <a:xfrm rot="5400000">
            <a:off x="1038967" y="7841433"/>
            <a:ext cx="2813200" cy="5646935"/>
          </a:xfrm>
          <a:custGeom>
            <a:rect b="b" l="l" r="r" t="t"/>
            <a:pathLst>
              <a:path extrusionOk="0"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3"/>
          <p:cNvSpPr/>
          <p:nvPr/>
        </p:nvSpPr>
        <p:spPr>
          <a:xfrm flipH="1">
            <a:off x="-1784500" y="1028700"/>
            <a:ext cx="2813200" cy="5646935"/>
          </a:xfrm>
          <a:custGeom>
            <a:rect b="b" l="l" r="r" t="t"/>
            <a:pathLst>
              <a:path extrusionOk="0"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3"/>
          <p:cNvSpPr/>
          <p:nvPr/>
        </p:nvSpPr>
        <p:spPr>
          <a:xfrm>
            <a:off x="-926064" y="7429986"/>
            <a:ext cx="1954764" cy="2437914"/>
          </a:xfrm>
          <a:custGeom>
            <a:rect b="b" l="l" r="r" t="t"/>
            <a:pathLst>
              <a:path extrusionOk="0"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3"/>
          <p:cNvSpPr/>
          <p:nvPr/>
        </p:nvSpPr>
        <p:spPr>
          <a:xfrm flipH="1" rot="10800000">
            <a:off x="17259300" y="557698"/>
            <a:ext cx="1954764" cy="2437914"/>
          </a:xfrm>
          <a:custGeom>
            <a:rect b="b" l="l" r="r" t="t"/>
            <a:pathLst>
              <a:path extrusionOk="0"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3"/>
          <p:cNvSpPr/>
          <p:nvPr/>
        </p:nvSpPr>
        <p:spPr>
          <a:xfrm>
            <a:off x="15373350" y="557698"/>
            <a:ext cx="1885950" cy="942975"/>
          </a:xfrm>
          <a:custGeom>
            <a:rect b="b" l="l" r="r" t="t"/>
            <a:pathLst>
              <a:path extrusionOk="0"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 flipH="1" rot="10800000">
            <a:off x="883444" y="8924925"/>
            <a:ext cx="1885950" cy="942975"/>
          </a:xfrm>
          <a:custGeom>
            <a:rect b="b" l="l" r="r" t="t"/>
            <a:pathLst>
              <a:path extrusionOk="0"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 txBox="1"/>
          <p:nvPr/>
        </p:nvSpPr>
        <p:spPr>
          <a:xfrm>
            <a:off x="2425985" y="521256"/>
            <a:ext cx="13436031" cy="1885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70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88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80" u="sng" cap="none" strike="noStrike">
                <a:solidFill>
                  <a:srgbClr val="034697"/>
                </a:solidFill>
                <a:latin typeface="Poppins"/>
                <a:ea typeface="Poppins"/>
                <a:cs typeface="Poppins"/>
                <a:sym typeface="Poppins"/>
              </a:rPr>
              <a:t>INTERNSHIP PROJECT PRESENTATION</a:t>
            </a:r>
            <a:endParaRPr/>
          </a:p>
          <a:p>
            <a:pPr indent="0" lvl="0" marL="0" marR="0" rtl="0" algn="ctr">
              <a:lnSpc>
                <a:spcPct val="88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480" u="sng" cap="none" strike="noStrike">
              <a:solidFill>
                <a:srgbClr val="03469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93" name="Google Shape;93;p13"/>
          <p:cNvGrpSpPr/>
          <p:nvPr/>
        </p:nvGrpSpPr>
        <p:grpSpPr>
          <a:xfrm>
            <a:off x="5033092" y="5986092"/>
            <a:ext cx="9291075" cy="3680544"/>
            <a:chOff x="0" y="0"/>
            <a:chExt cx="2447016" cy="969355"/>
          </a:xfrm>
        </p:grpSpPr>
        <p:sp>
          <p:nvSpPr>
            <p:cNvPr id="94" name="Google Shape;94;p13"/>
            <p:cNvSpPr/>
            <p:nvPr/>
          </p:nvSpPr>
          <p:spPr>
            <a:xfrm>
              <a:off x="0" y="0"/>
              <a:ext cx="2447016" cy="969355"/>
            </a:xfrm>
            <a:custGeom>
              <a:rect b="b" l="l" r="r" t="t"/>
              <a:pathLst>
                <a:path extrusionOk="0" h="969355" w="2447016">
                  <a:moveTo>
                    <a:pt x="42497" y="0"/>
                  </a:moveTo>
                  <a:lnTo>
                    <a:pt x="2404519" y="0"/>
                  </a:lnTo>
                  <a:cubicBezTo>
                    <a:pt x="2415790" y="0"/>
                    <a:pt x="2426599" y="4477"/>
                    <a:pt x="2434569" y="12447"/>
                  </a:cubicBezTo>
                  <a:cubicBezTo>
                    <a:pt x="2442539" y="20417"/>
                    <a:pt x="2447016" y="31226"/>
                    <a:pt x="2447016" y="42497"/>
                  </a:cubicBezTo>
                  <a:lnTo>
                    <a:pt x="2447016" y="926859"/>
                  </a:lnTo>
                  <a:cubicBezTo>
                    <a:pt x="2447016" y="950329"/>
                    <a:pt x="2427989" y="969355"/>
                    <a:pt x="2404519" y="969355"/>
                  </a:cubicBezTo>
                  <a:lnTo>
                    <a:pt x="42497" y="969355"/>
                  </a:lnTo>
                  <a:cubicBezTo>
                    <a:pt x="31226" y="969355"/>
                    <a:pt x="20417" y="964878"/>
                    <a:pt x="12447" y="956908"/>
                  </a:cubicBezTo>
                  <a:cubicBezTo>
                    <a:pt x="4477" y="948939"/>
                    <a:pt x="0" y="938129"/>
                    <a:pt x="0" y="926859"/>
                  </a:cubicBezTo>
                  <a:lnTo>
                    <a:pt x="0" y="42497"/>
                  </a:lnTo>
                  <a:cubicBezTo>
                    <a:pt x="0" y="31226"/>
                    <a:pt x="4477" y="20417"/>
                    <a:pt x="12447" y="12447"/>
                  </a:cubicBezTo>
                  <a:cubicBezTo>
                    <a:pt x="20417" y="4477"/>
                    <a:pt x="31226" y="0"/>
                    <a:pt x="424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3"/>
            <p:cNvSpPr txBox="1"/>
            <p:nvPr/>
          </p:nvSpPr>
          <p:spPr>
            <a:xfrm>
              <a:off x="0" y="47625"/>
              <a:ext cx="2447016" cy="921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13"/>
          <p:cNvSpPr txBox="1"/>
          <p:nvPr/>
        </p:nvSpPr>
        <p:spPr>
          <a:xfrm>
            <a:off x="5578464" y="5091072"/>
            <a:ext cx="9166500" cy="48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4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94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94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2" u="none" cap="none" strike="noStrike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Presented by: Ashika Thakur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2" u="none" cap="none" strike="noStrike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Internship Program: PBEL-IBM Virtual Internship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2" u="none" cap="none" strike="noStrike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Organization: IBM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2" u="none" cap="none" strike="noStrike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Mentor: Mr. Abhishek Singh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02" u="none" cap="none" strike="noStrike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grpSp>
        <p:nvGrpSpPr>
          <p:cNvPr id="97" name="Google Shape;97;p13"/>
          <p:cNvGrpSpPr/>
          <p:nvPr/>
        </p:nvGrpSpPr>
        <p:grpSpPr>
          <a:xfrm>
            <a:off x="3095232" y="3413231"/>
            <a:ext cx="12097537" cy="1036193"/>
            <a:chOff x="0" y="0"/>
            <a:chExt cx="7421128" cy="635644"/>
          </a:xfrm>
        </p:grpSpPr>
        <p:sp>
          <p:nvSpPr>
            <p:cNvPr id="98" name="Google Shape;98;p13"/>
            <p:cNvSpPr/>
            <p:nvPr/>
          </p:nvSpPr>
          <p:spPr>
            <a:xfrm>
              <a:off x="0" y="0"/>
              <a:ext cx="7421128" cy="635644"/>
            </a:xfrm>
            <a:custGeom>
              <a:rect b="b" l="l" r="r" t="t"/>
              <a:pathLst>
                <a:path extrusionOk="0" h="635644" w="7421128">
                  <a:moveTo>
                    <a:pt x="7217928" y="0"/>
                  </a:moveTo>
                  <a:cubicBezTo>
                    <a:pt x="7330153" y="0"/>
                    <a:pt x="7421128" y="142294"/>
                    <a:pt x="7421128" y="317822"/>
                  </a:cubicBezTo>
                  <a:cubicBezTo>
                    <a:pt x="7421128" y="493350"/>
                    <a:pt x="7330153" y="635644"/>
                    <a:pt x="7217928" y="635644"/>
                  </a:cubicBezTo>
                  <a:lnTo>
                    <a:pt x="203200" y="635644"/>
                  </a:lnTo>
                  <a:cubicBezTo>
                    <a:pt x="90976" y="635644"/>
                    <a:pt x="0" y="493350"/>
                    <a:pt x="0" y="317822"/>
                  </a:cubicBezTo>
                  <a:cubicBezTo>
                    <a:pt x="0" y="14229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3"/>
            <p:cNvSpPr txBox="1"/>
            <p:nvPr/>
          </p:nvSpPr>
          <p:spPr>
            <a:xfrm>
              <a:off x="0" y="47625"/>
              <a:ext cx="7421128" cy="5880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5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13"/>
          <p:cNvSpPr txBox="1"/>
          <p:nvPr/>
        </p:nvSpPr>
        <p:spPr>
          <a:xfrm>
            <a:off x="1028700" y="3658990"/>
            <a:ext cx="16400247" cy="1161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8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80" u="none" cap="none" strike="noStrike">
                <a:solidFill>
                  <a:srgbClr val="034697"/>
                </a:solidFill>
                <a:latin typeface="Poppins"/>
                <a:ea typeface="Poppins"/>
                <a:cs typeface="Poppins"/>
                <a:sym typeface="Poppins"/>
              </a:rPr>
              <a:t> DOG VS CAT IMAGE CLASSIFICATION</a:t>
            </a:r>
            <a:endParaRPr/>
          </a:p>
          <a:p>
            <a:pPr indent="0" lvl="0" marL="0" marR="0" rtl="0" algn="ctr">
              <a:lnSpc>
                <a:spcPct val="88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580" u="none" cap="none" strike="noStrike">
              <a:solidFill>
                <a:srgbClr val="03469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7F9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 rot="5400000">
            <a:off x="1038967" y="7841433"/>
            <a:ext cx="2813200" cy="5646935"/>
          </a:xfrm>
          <a:custGeom>
            <a:rect b="b" l="l" r="r" t="t"/>
            <a:pathLst>
              <a:path extrusionOk="0"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14"/>
          <p:cNvSpPr/>
          <p:nvPr/>
        </p:nvSpPr>
        <p:spPr>
          <a:xfrm flipH="1">
            <a:off x="-1784500" y="1028700"/>
            <a:ext cx="2813200" cy="5646935"/>
          </a:xfrm>
          <a:custGeom>
            <a:rect b="b" l="l" r="r" t="t"/>
            <a:pathLst>
              <a:path extrusionOk="0"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14"/>
          <p:cNvSpPr/>
          <p:nvPr/>
        </p:nvSpPr>
        <p:spPr>
          <a:xfrm>
            <a:off x="-926064" y="7429986"/>
            <a:ext cx="1954764" cy="2437914"/>
          </a:xfrm>
          <a:custGeom>
            <a:rect b="b" l="l" r="r" t="t"/>
            <a:pathLst>
              <a:path extrusionOk="0"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14"/>
          <p:cNvSpPr/>
          <p:nvPr/>
        </p:nvSpPr>
        <p:spPr>
          <a:xfrm flipH="1" rot="10800000">
            <a:off x="883444" y="8924925"/>
            <a:ext cx="1885950" cy="942975"/>
          </a:xfrm>
          <a:custGeom>
            <a:rect b="b" l="l" r="r" t="t"/>
            <a:pathLst>
              <a:path extrusionOk="0"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14"/>
          <p:cNvSpPr txBox="1"/>
          <p:nvPr/>
        </p:nvSpPr>
        <p:spPr>
          <a:xfrm>
            <a:off x="2724908" y="1444154"/>
            <a:ext cx="8960400" cy="9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8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62" u="none" cap="none" strike="noStrike">
                <a:solidFill>
                  <a:srgbClr val="034697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475148" y="3368716"/>
            <a:ext cx="11460000" cy="60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5439" lvl="1" marL="69088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34697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Image classification is a key application of Artificial Intelligence and Deep Learning.</a:t>
            </a:r>
            <a:endParaRPr/>
          </a:p>
          <a:p>
            <a:pPr indent="-345439" lvl="1" marL="69088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34697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Convolutional Neural Networks (CNNs) are widely used for image recognition tasks.</a:t>
            </a:r>
            <a:endParaRPr/>
          </a:p>
          <a:p>
            <a:pPr indent="-345439" lvl="1" marL="69088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34697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This project focuses on classifying images into Dog or Cat.</a:t>
            </a:r>
            <a:endParaRPr/>
          </a:p>
          <a:p>
            <a:pPr indent="-345439" lvl="1" marL="69088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34697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The model learns visual features directly from image data.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grpSp>
        <p:nvGrpSpPr>
          <p:cNvPr id="111" name="Google Shape;111;p14"/>
          <p:cNvGrpSpPr/>
          <p:nvPr/>
        </p:nvGrpSpPr>
        <p:grpSpPr>
          <a:xfrm rot="672619">
            <a:off x="13398789" y="2169267"/>
            <a:ext cx="3860511" cy="4082706"/>
            <a:chOff x="0" y="0"/>
            <a:chExt cx="1113184" cy="1177255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0"/>
              <a:ext cx="1113184" cy="1177255"/>
            </a:xfrm>
            <a:custGeom>
              <a:rect b="b" l="l" r="r" t="t"/>
              <a:pathLst>
                <a:path extrusionOk="0" h="1177255" w="1113184">
                  <a:moveTo>
                    <a:pt x="0" y="0"/>
                  </a:moveTo>
                  <a:lnTo>
                    <a:pt x="1113184" y="0"/>
                  </a:lnTo>
                  <a:lnTo>
                    <a:pt x="1113184" y="1177255"/>
                  </a:lnTo>
                  <a:lnTo>
                    <a:pt x="0" y="117725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3" name="Google Shape;113;p14"/>
            <p:cNvSpPr txBox="1"/>
            <p:nvPr/>
          </p:nvSpPr>
          <p:spPr>
            <a:xfrm>
              <a:off x="0" y="47625"/>
              <a:ext cx="1113184" cy="1129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4"/>
          <p:cNvSpPr/>
          <p:nvPr/>
        </p:nvSpPr>
        <p:spPr>
          <a:xfrm rot="5400000">
            <a:off x="14064070" y="-2251600"/>
            <a:ext cx="2813200" cy="5646935"/>
          </a:xfrm>
          <a:custGeom>
            <a:rect b="b" l="l" r="r" t="t"/>
            <a:pathLst>
              <a:path extrusionOk="0"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4"/>
          <p:cNvSpPr/>
          <p:nvPr/>
        </p:nvSpPr>
        <p:spPr>
          <a:xfrm rot="688711">
            <a:off x="13684173" y="2512782"/>
            <a:ext cx="3289744" cy="3372894"/>
          </a:xfrm>
          <a:custGeom>
            <a:rect b="b" l="l" r="r" t="t"/>
            <a:pathLst>
              <a:path extrusionOk="0" h="572106" w="558002">
                <a:moveTo>
                  <a:pt x="0" y="0"/>
                </a:moveTo>
                <a:lnTo>
                  <a:pt x="558002" y="0"/>
                </a:lnTo>
                <a:lnTo>
                  <a:pt x="558002" y="572106"/>
                </a:lnTo>
                <a:lnTo>
                  <a:pt x="0" y="572106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1828" l="0" r="0" t="-11828"/>
            </a:stretch>
          </a:blipFill>
          <a:ln>
            <a:noFill/>
          </a:ln>
        </p:spPr>
      </p:sp>
      <p:grpSp>
        <p:nvGrpSpPr>
          <p:cNvPr id="116" name="Google Shape;116;p14"/>
          <p:cNvGrpSpPr/>
          <p:nvPr/>
        </p:nvGrpSpPr>
        <p:grpSpPr>
          <a:xfrm rot="-464979">
            <a:off x="14841014" y="4939672"/>
            <a:ext cx="3068149" cy="3471926"/>
            <a:chOff x="0" y="0"/>
            <a:chExt cx="1551991" cy="1756237"/>
          </a:xfrm>
        </p:grpSpPr>
        <p:sp>
          <p:nvSpPr>
            <p:cNvPr id="117" name="Google Shape;117;p14"/>
            <p:cNvSpPr/>
            <p:nvPr/>
          </p:nvSpPr>
          <p:spPr>
            <a:xfrm>
              <a:off x="0" y="0"/>
              <a:ext cx="1551991" cy="1756237"/>
            </a:xfrm>
            <a:custGeom>
              <a:rect b="b" l="l" r="r" t="t"/>
              <a:pathLst>
                <a:path extrusionOk="0" h="1756237" w="1551991">
                  <a:moveTo>
                    <a:pt x="0" y="0"/>
                  </a:moveTo>
                  <a:lnTo>
                    <a:pt x="1551991" y="0"/>
                  </a:lnTo>
                  <a:lnTo>
                    <a:pt x="1551991" y="1756237"/>
                  </a:lnTo>
                  <a:lnTo>
                    <a:pt x="0" y="17562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8" name="Google Shape;118;p14"/>
            <p:cNvSpPr txBox="1"/>
            <p:nvPr/>
          </p:nvSpPr>
          <p:spPr>
            <a:xfrm>
              <a:off x="0" y="47625"/>
              <a:ext cx="1551991" cy="17086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" name="Google Shape;119;p14"/>
          <p:cNvSpPr/>
          <p:nvPr/>
        </p:nvSpPr>
        <p:spPr>
          <a:xfrm rot="-467997">
            <a:off x="15009280" y="5168380"/>
            <a:ext cx="2731618" cy="2731618"/>
          </a:xfrm>
          <a:custGeom>
            <a:rect b="b" l="l" r="r" t="t"/>
            <a:pathLst>
              <a:path extrusionOk="0" h="812800" w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25046" l="0" r="0" t="-25046"/>
            </a:stretch>
          </a:blipFill>
          <a:ln>
            <a:noFill/>
          </a:ln>
        </p:spPr>
      </p:sp>
      <p:sp>
        <p:nvSpPr>
          <p:cNvPr id="120" name="Google Shape;120;p14"/>
          <p:cNvSpPr/>
          <p:nvPr/>
        </p:nvSpPr>
        <p:spPr>
          <a:xfrm flipH="1" rot="-5262720">
            <a:off x="16842405" y="11620"/>
            <a:ext cx="1885950" cy="942975"/>
          </a:xfrm>
          <a:custGeom>
            <a:rect b="b" l="l" r="r" t="t"/>
            <a:pathLst>
              <a:path extrusionOk="0"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7F9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/>
          <p:nvPr/>
        </p:nvSpPr>
        <p:spPr>
          <a:xfrm flipH="1" rot="10800000">
            <a:off x="17259300" y="3611365"/>
            <a:ext cx="2813200" cy="5646935"/>
          </a:xfrm>
          <a:custGeom>
            <a:rect b="b" l="l" r="r" t="t"/>
            <a:pathLst>
              <a:path extrusionOk="0"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15"/>
          <p:cNvSpPr/>
          <p:nvPr/>
        </p:nvSpPr>
        <p:spPr>
          <a:xfrm rot="-5400000">
            <a:off x="14257262" y="-3201368"/>
            <a:ext cx="2813200" cy="5646935"/>
          </a:xfrm>
          <a:custGeom>
            <a:rect b="b" l="l" r="r" t="t"/>
            <a:pathLst>
              <a:path extrusionOk="0"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15"/>
          <p:cNvSpPr/>
          <p:nvPr/>
        </p:nvSpPr>
        <p:spPr>
          <a:xfrm flipH="1">
            <a:off x="-1784500" y="1028700"/>
            <a:ext cx="2813200" cy="5646935"/>
          </a:xfrm>
          <a:custGeom>
            <a:rect b="b" l="l" r="r" t="t"/>
            <a:pathLst>
              <a:path extrusionOk="0"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15"/>
          <p:cNvSpPr/>
          <p:nvPr/>
        </p:nvSpPr>
        <p:spPr>
          <a:xfrm>
            <a:off x="-926064" y="7429986"/>
            <a:ext cx="1954764" cy="2437914"/>
          </a:xfrm>
          <a:custGeom>
            <a:rect b="b" l="l" r="r" t="t"/>
            <a:pathLst>
              <a:path extrusionOk="0"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15"/>
          <p:cNvSpPr/>
          <p:nvPr/>
        </p:nvSpPr>
        <p:spPr>
          <a:xfrm flipH="1" rot="10800000">
            <a:off x="17259300" y="557698"/>
            <a:ext cx="1954764" cy="2437914"/>
          </a:xfrm>
          <a:custGeom>
            <a:rect b="b" l="l" r="r" t="t"/>
            <a:pathLst>
              <a:path extrusionOk="0"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15"/>
          <p:cNvSpPr/>
          <p:nvPr/>
        </p:nvSpPr>
        <p:spPr>
          <a:xfrm>
            <a:off x="15373350" y="557698"/>
            <a:ext cx="1885950" cy="942975"/>
          </a:xfrm>
          <a:custGeom>
            <a:rect b="b" l="l" r="r" t="t"/>
            <a:pathLst>
              <a:path extrusionOk="0"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p15"/>
          <p:cNvSpPr/>
          <p:nvPr/>
        </p:nvSpPr>
        <p:spPr>
          <a:xfrm flipH="1" rot="10800000">
            <a:off x="883444" y="8924925"/>
            <a:ext cx="1885950" cy="942975"/>
          </a:xfrm>
          <a:custGeom>
            <a:rect b="b" l="l" r="r" t="t"/>
            <a:pathLst>
              <a:path extrusionOk="0"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15"/>
          <p:cNvSpPr txBox="1"/>
          <p:nvPr/>
        </p:nvSpPr>
        <p:spPr>
          <a:xfrm>
            <a:off x="966390" y="1576873"/>
            <a:ext cx="16292910" cy="992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8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62" u="none" cap="none" strike="noStrike">
                <a:solidFill>
                  <a:srgbClr val="034697"/>
                </a:solidFill>
                <a:latin typeface="Poppins"/>
                <a:ea typeface="Poppins"/>
                <a:cs typeface="Poppins"/>
                <a:sym typeface="Poppins"/>
              </a:rPr>
              <a:t>PROBLEM STATEMENT &amp; DATASET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3265459" y="6618485"/>
            <a:ext cx="12603956" cy="334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5439" lvl="1" marL="69088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34697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Dataset contains unlabeled images of dogs and cats.</a:t>
            </a:r>
            <a:endParaRPr/>
          </a:p>
          <a:p>
            <a:pPr indent="-345439" lvl="1" marL="69088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34697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Images are resized to a fixed dimension.</a:t>
            </a:r>
            <a:endParaRPr/>
          </a:p>
          <a:p>
            <a:pPr indent="-345439" lvl="1" marL="69088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34697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Pixel values are normalized for better model performance.</a:t>
            </a:r>
            <a:endParaRPr/>
          </a:p>
          <a:p>
            <a:pPr indent="-345439" lvl="1" marL="69088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34697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Images of cats and dogs are provided a label(like as 0 &amp; 1).</a:t>
            </a:r>
            <a:endParaRPr/>
          </a:p>
          <a:p>
            <a:pPr indent="-345439" lvl="1" marL="69088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34697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Dataset is split into training and testing sets.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3570075" y="2952981"/>
            <a:ext cx="7435291" cy="705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3265459" y="3795017"/>
            <a:ext cx="11823899" cy="2223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5439" lvl="1" marL="69088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34697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Given an input image, classify whether it contains a Dog or a Cat.</a:t>
            </a:r>
            <a:endParaRPr/>
          </a:p>
          <a:p>
            <a:pPr indent="-345439" lvl="1" marL="69088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34697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Manual classification is inefficient and prone to errors.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3691417" y="5729592"/>
            <a:ext cx="7435291" cy="705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7F9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/>
          <p:nvPr/>
        </p:nvSpPr>
        <p:spPr>
          <a:xfrm flipH="1" rot="10800000">
            <a:off x="17259300" y="3611365"/>
            <a:ext cx="2813200" cy="5646935"/>
          </a:xfrm>
          <a:custGeom>
            <a:rect b="b" l="l" r="r" t="t"/>
            <a:pathLst>
              <a:path extrusionOk="0"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16"/>
          <p:cNvSpPr/>
          <p:nvPr/>
        </p:nvSpPr>
        <p:spPr>
          <a:xfrm rot="-5400000">
            <a:off x="14257262" y="-3201368"/>
            <a:ext cx="2813200" cy="5646935"/>
          </a:xfrm>
          <a:custGeom>
            <a:rect b="b" l="l" r="r" t="t"/>
            <a:pathLst>
              <a:path extrusionOk="0"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/>
          <p:nvPr/>
        </p:nvSpPr>
        <p:spPr>
          <a:xfrm flipH="1">
            <a:off x="-1784500" y="1028700"/>
            <a:ext cx="2813200" cy="5646935"/>
          </a:xfrm>
          <a:custGeom>
            <a:rect b="b" l="l" r="r" t="t"/>
            <a:pathLst>
              <a:path extrusionOk="0"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16"/>
          <p:cNvSpPr/>
          <p:nvPr/>
        </p:nvSpPr>
        <p:spPr>
          <a:xfrm>
            <a:off x="-926064" y="7429986"/>
            <a:ext cx="1954764" cy="2437914"/>
          </a:xfrm>
          <a:custGeom>
            <a:rect b="b" l="l" r="r" t="t"/>
            <a:pathLst>
              <a:path extrusionOk="0"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16"/>
          <p:cNvSpPr/>
          <p:nvPr/>
        </p:nvSpPr>
        <p:spPr>
          <a:xfrm flipH="1" rot="10800000">
            <a:off x="17259300" y="557698"/>
            <a:ext cx="1954764" cy="2437914"/>
          </a:xfrm>
          <a:custGeom>
            <a:rect b="b" l="l" r="r" t="t"/>
            <a:pathLst>
              <a:path extrusionOk="0"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16"/>
          <p:cNvSpPr/>
          <p:nvPr/>
        </p:nvSpPr>
        <p:spPr>
          <a:xfrm>
            <a:off x="15373350" y="557698"/>
            <a:ext cx="1885950" cy="942975"/>
          </a:xfrm>
          <a:custGeom>
            <a:rect b="b" l="l" r="r" t="t"/>
            <a:pathLst>
              <a:path extrusionOk="0"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16"/>
          <p:cNvSpPr/>
          <p:nvPr/>
        </p:nvSpPr>
        <p:spPr>
          <a:xfrm flipH="1" rot="10800000">
            <a:off x="883444" y="8924925"/>
            <a:ext cx="1885950" cy="942975"/>
          </a:xfrm>
          <a:custGeom>
            <a:rect b="b" l="l" r="r" t="t"/>
            <a:pathLst>
              <a:path extrusionOk="0"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16"/>
          <p:cNvSpPr txBox="1"/>
          <p:nvPr/>
        </p:nvSpPr>
        <p:spPr>
          <a:xfrm>
            <a:off x="416141" y="1303904"/>
            <a:ext cx="16293000" cy="9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8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62" u="none" cap="none" strike="noStrike">
                <a:solidFill>
                  <a:srgbClr val="034697"/>
                </a:solidFill>
                <a:latin typeface="Poppins"/>
                <a:ea typeface="Poppins"/>
                <a:cs typeface="Poppins"/>
                <a:sym typeface="Poppins"/>
              </a:rPr>
              <a:t>METHODOLOGY &amp; MODEL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3384181" y="7082155"/>
            <a:ext cx="12915900" cy="3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5439" lvl="1" marL="69088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34697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Convolutional layers for feature extraction.</a:t>
            </a:r>
            <a:endParaRPr/>
          </a:p>
          <a:p>
            <a:pPr indent="-345439" lvl="1" marL="69088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34697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GlobalAveragePooling2D performing dimensionality reduction.</a:t>
            </a:r>
            <a:endParaRPr/>
          </a:p>
          <a:p>
            <a:pPr indent="-345439" lvl="1" marL="69088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34697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Fully connected (Dense) layers for classification.</a:t>
            </a:r>
            <a:endParaRPr/>
          </a:p>
          <a:p>
            <a:pPr indent="-345439" lvl="1" marL="69088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34697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Softmax activation function for binary output.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3691417" y="2571555"/>
            <a:ext cx="7435291" cy="705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3265459" y="3219645"/>
            <a:ext cx="13557359" cy="334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5439" lvl="1" marL="69088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34697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Image preprocessing and resizing</a:t>
            </a:r>
            <a:endParaRPr/>
          </a:p>
          <a:p>
            <a:pPr indent="-345439" lvl="1" marL="69088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34697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Data normalization</a:t>
            </a:r>
            <a:endParaRPr/>
          </a:p>
          <a:p>
            <a:pPr indent="-345439" lvl="1" marL="69088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34697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Model built using Convolutional Neural Network (CNN)</a:t>
            </a:r>
            <a:endParaRPr/>
          </a:p>
          <a:p>
            <a:pPr indent="-345439" lvl="1" marL="69088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34697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Model trained using labeled image data</a:t>
            </a:r>
            <a:endParaRPr/>
          </a:p>
          <a:p>
            <a:pPr indent="-345439" lvl="1" marL="69088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34697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Performance evaluated using accuracy and loss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3691419" y="6567375"/>
            <a:ext cx="18861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7F9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/>
          <p:nvPr/>
        </p:nvSpPr>
        <p:spPr>
          <a:xfrm flipH="1" rot="10800000">
            <a:off x="17259300" y="3611365"/>
            <a:ext cx="2813200" cy="5646935"/>
          </a:xfrm>
          <a:custGeom>
            <a:rect b="b" l="l" r="r" t="t"/>
            <a:pathLst>
              <a:path extrusionOk="0"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p17"/>
          <p:cNvSpPr/>
          <p:nvPr/>
        </p:nvSpPr>
        <p:spPr>
          <a:xfrm rot="-5400000">
            <a:off x="15395152" y="-2820230"/>
            <a:ext cx="2056449" cy="4127908"/>
          </a:xfrm>
          <a:custGeom>
            <a:rect b="b" l="l" r="r" t="t"/>
            <a:pathLst>
              <a:path extrusionOk="0" h="4127908" w="2056449">
                <a:moveTo>
                  <a:pt x="2056448" y="4127908"/>
                </a:moveTo>
                <a:lnTo>
                  <a:pt x="0" y="4127908"/>
                </a:lnTo>
                <a:lnTo>
                  <a:pt x="0" y="0"/>
                </a:lnTo>
                <a:lnTo>
                  <a:pt x="2056448" y="0"/>
                </a:lnTo>
                <a:lnTo>
                  <a:pt x="2056448" y="4127908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9" name="Google Shape;159;p17"/>
          <p:cNvSpPr/>
          <p:nvPr/>
        </p:nvSpPr>
        <p:spPr>
          <a:xfrm flipH="1">
            <a:off x="-1784500" y="1028700"/>
            <a:ext cx="2813200" cy="5646935"/>
          </a:xfrm>
          <a:custGeom>
            <a:rect b="b" l="l" r="r" t="t"/>
            <a:pathLst>
              <a:path extrusionOk="0"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17"/>
          <p:cNvSpPr/>
          <p:nvPr/>
        </p:nvSpPr>
        <p:spPr>
          <a:xfrm>
            <a:off x="-926064" y="7429986"/>
            <a:ext cx="1954764" cy="2437914"/>
          </a:xfrm>
          <a:custGeom>
            <a:rect b="b" l="l" r="r" t="t"/>
            <a:pathLst>
              <a:path extrusionOk="0"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17"/>
          <p:cNvSpPr/>
          <p:nvPr/>
        </p:nvSpPr>
        <p:spPr>
          <a:xfrm flipH="1" rot="10800000">
            <a:off x="17259300" y="557698"/>
            <a:ext cx="1954764" cy="2437914"/>
          </a:xfrm>
          <a:custGeom>
            <a:rect b="b" l="l" r="r" t="t"/>
            <a:pathLst>
              <a:path extrusionOk="0"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17"/>
          <p:cNvSpPr/>
          <p:nvPr/>
        </p:nvSpPr>
        <p:spPr>
          <a:xfrm flipH="1" rot="10800000">
            <a:off x="883444" y="8924925"/>
            <a:ext cx="1885950" cy="942975"/>
          </a:xfrm>
          <a:custGeom>
            <a:rect b="b" l="l" r="r" t="t"/>
            <a:pathLst>
              <a:path extrusionOk="0"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17"/>
          <p:cNvSpPr/>
          <p:nvPr/>
        </p:nvSpPr>
        <p:spPr>
          <a:xfrm>
            <a:off x="358302" y="1604887"/>
            <a:ext cx="4762830" cy="3003300"/>
          </a:xfrm>
          <a:custGeom>
            <a:rect b="b" l="l" r="r" t="t"/>
            <a:pathLst>
              <a:path extrusionOk="0" h="3003300" w="4762830">
                <a:moveTo>
                  <a:pt x="0" y="0"/>
                </a:moveTo>
                <a:lnTo>
                  <a:pt x="4762830" y="0"/>
                </a:lnTo>
                <a:lnTo>
                  <a:pt x="4762830" y="3003301"/>
                </a:lnTo>
                <a:lnTo>
                  <a:pt x="0" y="3003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20589" l="-21910" r="-51689" t="-51475"/>
            </a:stretch>
          </a:blipFill>
          <a:ln>
            <a:noFill/>
          </a:ln>
        </p:spPr>
      </p:sp>
      <p:sp>
        <p:nvSpPr>
          <p:cNvPr id="164" name="Google Shape;164;p17"/>
          <p:cNvSpPr/>
          <p:nvPr/>
        </p:nvSpPr>
        <p:spPr>
          <a:xfrm>
            <a:off x="358302" y="4752310"/>
            <a:ext cx="4762830" cy="3171534"/>
          </a:xfrm>
          <a:custGeom>
            <a:rect b="b" l="l" r="r" t="t"/>
            <a:pathLst>
              <a:path extrusionOk="0" h="3171534" w="4762830">
                <a:moveTo>
                  <a:pt x="0" y="0"/>
                </a:moveTo>
                <a:lnTo>
                  <a:pt x="4762830" y="0"/>
                </a:lnTo>
                <a:lnTo>
                  <a:pt x="4762830" y="3171534"/>
                </a:lnTo>
                <a:lnTo>
                  <a:pt x="0" y="31715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10422" l="-21690" r="-31812" t="-33651"/>
            </a:stretch>
          </a:blipFill>
          <a:ln>
            <a:noFill/>
          </a:ln>
        </p:spPr>
      </p:sp>
      <p:sp>
        <p:nvSpPr>
          <p:cNvPr id="165" name="Google Shape;165;p17"/>
          <p:cNvSpPr/>
          <p:nvPr/>
        </p:nvSpPr>
        <p:spPr>
          <a:xfrm>
            <a:off x="10251183" y="1762496"/>
            <a:ext cx="6172194" cy="5384326"/>
          </a:xfrm>
          <a:custGeom>
            <a:rect b="b" l="l" r="r" t="t"/>
            <a:pathLst>
              <a:path extrusionOk="0" h="5384326" w="6172194">
                <a:moveTo>
                  <a:pt x="0" y="0"/>
                </a:moveTo>
                <a:lnTo>
                  <a:pt x="6172193" y="0"/>
                </a:lnTo>
                <a:lnTo>
                  <a:pt x="6172193" y="5384326"/>
                </a:lnTo>
                <a:lnTo>
                  <a:pt x="0" y="53843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629" l="0" r="0" t="-629"/>
            </a:stretch>
          </a:blipFill>
          <a:ln>
            <a:noFill/>
          </a:ln>
        </p:spPr>
      </p:sp>
      <p:sp>
        <p:nvSpPr>
          <p:cNvPr id="166" name="Google Shape;166;p17"/>
          <p:cNvSpPr txBox="1"/>
          <p:nvPr/>
        </p:nvSpPr>
        <p:spPr>
          <a:xfrm>
            <a:off x="696458" y="507544"/>
            <a:ext cx="17246313" cy="7540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8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362" u="none" cap="none" strike="noStrike">
                <a:solidFill>
                  <a:srgbClr val="034697"/>
                </a:solidFill>
                <a:latin typeface="Poppins"/>
                <a:ea typeface="Poppins"/>
                <a:cs typeface="Poppins"/>
                <a:sym typeface="Poppins"/>
              </a:rPr>
              <a:t> RESULTS &amp; MODEL PERFORMANCE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5262361" y="7401411"/>
            <a:ext cx="11540100" cy="29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8640" lvl="1" marL="61728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34697"/>
              </a:buClr>
              <a:buSzPts val="2859"/>
              <a:buFont typeface="Arial"/>
              <a:buChar char="•"/>
            </a:pPr>
            <a:r>
              <a:rPr b="0" i="0" lang="en-US" sz="2859" u="none" cap="none" strike="noStrike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CNN model trained to clas</a:t>
            </a:r>
            <a:r>
              <a:rPr lang="en-US" sz="285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si</a:t>
            </a:r>
            <a:r>
              <a:rPr b="0" i="0" lang="en-US" sz="2859" u="none" cap="none" strike="noStrike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fy dog and cat images.</a:t>
            </a:r>
            <a:endParaRPr/>
          </a:p>
          <a:p>
            <a:pPr indent="-308640" lvl="1" marL="61728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34697"/>
              </a:buClr>
              <a:buSzPts val="2859"/>
              <a:buFont typeface="Arial"/>
              <a:buChar char="•"/>
            </a:pPr>
            <a:r>
              <a:rPr b="0" i="0" lang="en-US" sz="2859" u="none" cap="none" strike="noStrike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Accuracy improved while loss decreased over epochs.</a:t>
            </a:r>
            <a:endParaRPr/>
          </a:p>
          <a:p>
            <a:pPr indent="-308640" lvl="1" marL="61728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34697"/>
              </a:buClr>
              <a:buSzPts val="2859"/>
              <a:buFont typeface="Arial"/>
              <a:buChar char="•"/>
            </a:pPr>
            <a:r>
              <a:rPr b="0" i="0" lang="en-US" sz="2859" u="none" cap="none" strike="noStrike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Dashboard allows user to upload an image for prediction.</a:t>
            </a:r>
            <a:endParaRPr/>
          </a:p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59" u="none" cap="none" strike="noStrike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59" u="none" cap="none" strike="noStrike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5601969" y="9039350"/>
            <a:ext cx="74352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3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Live Demo :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7558623" y="9077566"/>
            <a:ext cx="8187900" cy="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9" u="sng" cap="none" strike="noStrike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https://huggingface.co/spaces/ashikathakur/Dog_and_Cat_Classification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7F9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/>
          <p:nvPr/>
        </p:nvSpPr>
        <p:spPr>
          <a:xfrm flipH="1" rot="10800000">
            <a:off x="17259300" y="3611365"/>
            <a:ext cx="2813200" cy="5646935"/>
          </a:xfrm>
          <a:custGeom>
            <a:rect b="b" l="l" r="r" t="t"/>
            <a:pathLst>
              <a:path extrusionOk="0"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18"/>
          <p:cNvSpPr/>
          <p:nvPr/>
        </p:nvSpPr>
        <p:spPr>
          <a:xfrm rot="-5400000">
            <a:off x="14257262" y="-3201368"/>
            <a:ext cx="2813200" cy="5646935"/>
          </a:xfrm>
          <a:custGeom>
            <a:rect b="b" l="l" r="r" t="t"/>
            <a:pathLst>
              <a:path extrusionOk="0"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p18"/>
          <p:cNvSpPr/>
          <p:nvPr/>
        </p:nvSpPr>
        <p:spPr>
          <a:xfrm rot="5400000">
            <a:off x="1038967" y="7841433"/>
            <a:ext cx="2813200" cy="5646935"/>
          </a:xfrm>
          <a:custGeom>
            <a:rect b="b" l="l" r="r" t="t"/>
            <a:pathLst>
              <a:path extrusionOk="0"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18"/>
          <p:cNvSpPr/>
          <p:nvPr/>
        </p:nvSpPr>
        <p:spPr>
          <a:xfrm flipH="1">
            <a:off x="-1784500" y="1028700"/>
            <a:ext cx="2813200" cy="5646935"/>
          </a:xfrm>
          <a:custGeom>
            <a:rect b="b" l="l" r="r" t="t"/>
            <a:pathLst>
              <a:path extrusionOk="0"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18"/>
          <p:cNvSpPr/>
          <p:nvPr/>
        </p:nvSpPr>
        <p:spPr>
          <a:xfrm>
            <a:off x="-926064" y="7429986"/>
            <a:ext cx="1954764" cy="2437914"/>
          </a:xfrm>
          <a:custGeom>
            <a:rect b="b" l="l" r="r" t="t"/>
            <a:pathLst>
              <a:path extrusionOk="0"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p18"/>
          <p:cNvSpPr/>
          <p:nvPr/>
        </p:nvSpPr>
        <p:spPr>
          <a:xfrm flipH="1" rot="10800000">
            <a:off x="17259300" y="557698"/>
            <a:ext cx="1954764" cy="2437914"/>
          </a:xfrm>
          <a:custGeom>
            <a:rect b="b" l="l" r="r" t="t"/>
            <a:pathLst>
              <a:path extrusionOk="0"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18"/>
          <p:cNvSpPr/>
          <p:nvPr/>
        </p:nvSpPr>
        <p:spPr>
          <a:xfrm>
            <a:off x="15373350" y="557698"/>
            <a:ext cx="1885950" cy="942975"/>
          </a:xfrm>
          <a:custGeom>
            <a:rect b="b" l="l" r="r" t="t"/>
            <a:pathLst>
              <a:path extrusionOk="0"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18"/>
          <p:cNvSpPr/>
          <p:nvPr/>
        </p:nvSpPr>
        <p:spPr>
          <a:xfrm flipH="1" rot="10800000">
            <a:off x="883444" y="8924925"/>
            <a:ext cx="1885950" cy="942975"/>
          </a:xfrm>
          <a:custGeom>
            <a:rect b="b" l="l" r="r" t="t"/>
            <a:pathLst>
              <a:path extrusionOk="0"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18"/>
          <p:cNvSpPr txBox="1"/>
          <p:nvPr/>
        </p:nvSpPr>
        <p:spPr>
          <a:xfrm>
            <a:off x="3327384" y="3607558"/>
            <a:ext cx="11633233" cy="3186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8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79" u="none" cap="none" strike="noStrike">
                <a:solidFill>
                  <a:srgbClr val="034697"/>
                </a:solidFill>
                <a:latin typeface="Poppins"/>
                <a:ea typeface="Poppins"/>
                <a:cs typeface="Poppins"/>
                <a:sym typeface="Poppins"/>
              </a:rPr>
              <a:t>THANK</a:t>
            </a:r>
            <a:endParaRPr/>
          </a:p>
          <a:p>
            <a:pPr indent="0" lvl="0" marL="0" marR="0" rtl="0" algn="ctr">
              <a:lnSpc>
                <a:spcPct val="88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79" u="none" cap="none" strike="noStrike">
                <a:solidFill>
                  <a:srgbClr val="034697"/>
                </a:solidFill>
                <a:latin typeface="Poppins"/>
                <a:ea typeface="Poppins"/>
                <a:cs typeface="Poppins"/>
                <a:sym typeface="Poppins"/>
              </a:rPr>
              <a:t>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